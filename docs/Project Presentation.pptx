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3"/>
  </p:notesMasterIdLst>
  <p:handoutMasterIdLst>
    <p:handoutMasterId r:id="rId14"/>
  </p:handoutMasterIdLst>
  <p:sldIdLst>
    <p:sldId id="261" r:id="rId5"/>
    <p:sldId id="273" r:id="rId6"/>
    <p:sldId id="280" r:id="rId7"/>
    <p:sldId id="315" r:id="rId8"/>
    <p:sldId id="316" r:id="rId9"/>
    <p:sldId id="317" r:id="rId10"/>
    <p:sldId id="318" r:id="rId11"/>
    <p:sldId id="28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621"/>
    <a:srgbClr val="EEEEEE"/>
    <a:srgbClr val="87175F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034" autoAdjust="0"/>
  </p:normalViewPr>
  <p:slideViewPr>
    <p:cSldViewPr>
      <p:cViewPr varScale="1">
        <p:scale>
          <a:sx n="96" d="100"/>
          <a:sy n="96" d="100"/>
        </p:scale>
        <p:origin x="178" y="6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12/16/2025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12/16/2025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CC88-4E9D-A3CA-2FCE-8E73E66E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45772-C1CF-E9A2-4881-0C568C1C0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7581D-BDA5-7B8F-E4D9-F9FA7DEF5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62B1D-29FF-BC29-A10A-D7B941DA4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02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xhere.com/ko/photo/1336199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pxhere.com/en/photo/85074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871" r="5869" b="-1"/>
          <a:stretch>
            <a:fillRect/>
          </a:stretch>
        </p:blipFill>
        <p:spPr>
          <a:xfrm>
            <a:off x="3124200" y="10"/>
            <a:ext cx="9067800" cy="6857990"/>
          </a:xfrm>
          <a:noFill/>
        </p:spPr>
      </p:pic>
      <p:sp>
        <p:nvSpPr>
          <p:cNvPr id="293" name="Text Placeholder 3">
            <a:extLst>
              <a:ext uri="{FF2B5EF4-FFF2-40B4-BE49-F238E27FC236}">
                <a16:creationId xmlns:a16="http://schemas.microsoft.com/office/drawing/2014/main" id="{8919816B-9976-0B22-BB28-DD6DC494F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400" y="266700"/>
            <a:ext cx="5105400" cy="632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350" y="1110367"/>
            <a:ext cx="4381500" cy="3429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KMP-Based Mealy Machine Visualizer and String Matching Web Application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7526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endParaRPr lang="en-US" b="1" u="sng" dirty="0">
              <a:latin typeface="Aptos Display" panose="020B0004020202020204" pitchFamily="34" charset="0"/>
            </a:endParaRPr>
          </a:p>
          <a:p>
            <a:pPr>
              <a:spcAft>
                <a:spcPts val="600"/>
              </a:spcAft>
            </a:pPr>
            <a:endParaRPr lang="en-US" b="1" u="sng" dirty="0">
              <a:latin typeface="Aptos Display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b="1" u="sng" dirty="0">
                <a:latin typeface="Aptos Display" panose="020B0004020202020204" pitchFamily="34" charset="0"/>
              </a:rPr>
              <a:t>Group Members: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Aptos Display" panose="020B0004020202020204" pitchFamily="34" charset="0"/>
              </a:rPr>
              <a:t>Javaria Owais (23FA-017-CS)</a:t>
            </a:r>
          </a:p>
          <a:p>
            <a:pPr>
              <a:spcAft>
                <a:spcPts val="600"/>
              </a:spcAft>
            </a:pPr>
            <a:r>
              <a:rPr lang="en-US" b="1" dirty="0">
                <a:latin typeface="Aptos Display" panose="020B0004020202020204" pitchFamily="34" charset="0"/>
              </a:rPr>
              <a:t>Sahir Ul Hassan (23FA-021-CS)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295" name="Text Placeholder 6">
            <a:extLst>
              <a:ext uri="{FF2B5EF4-FFF2-40B4-BE49-F238E27FC236}">
                <a16:creationId xmlns:a16="http://schemas.microsoft.com/office/drawing/2014/main" id="{5FC98374-4BBA-ECE0-563E-9DB438C3F6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10800000">
            <a:off x="314325" y="4953000"/>
            <a:ext cx="1143000" cy="17907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87220" y="2416905"/>
            <a:ext cx="10288693" cy="392293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Example:</a:t>
            </a:r>
            <a:br>
              <a:rPr lang="en-US" b="1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Text</a:t>
            </a:r>
            <a:r>
              <a:rPr lang="en-US" dirty="0">
                <a:latin typeface="Aptos" panose="020B0004020202020204" pitchFamily="34" charset="0"/>
              </a:rPr>
              <a:t> = </a:t>
            </a:r>
            <a:r>
              <a:rPr lang="en-US" dirty="0" err="1">
                <a:latin typeface="Aptos" panose="020B0004020202020204" pitchFamily="34" charset="0"/>
              </a:rPr>
              <a:t>ababcabac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b="1" dirty="0">
                <a:latin typeface="Aptos" panose="020B0004020202020204" pitchFamily="34" charset="0"/>
              </a:rPr>
              <a:t>Pattern</a:t>
            </a:r>
            <a:r>
              <a:rPr lang="en-US" dirty="0">
                <a:latin typeface="Aptos" panose="020B0004020202020204" pitchFamily="34" charset="0"/>
              </a:rPr>
              <a:t> = </a:t>
            </a:r>
            <a:r>
              <a:rPr lang="en-US" dirty="0" err="1">
                <a:latin typeface="Aptos" panose="020B0004020202020204" pitchFamily="34" charset="0"/>
              </a:rPr>
              <a:t>abac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We want to find where </a:t>
            </a:r>
            <a:r>
              <a:rPr lang="en-US" b="1" dirty="0" err="1">
                <a:latin typeface="Aptos" panose="020B0004020202020204" pitchFamily="34" charset="0"/>
              </a:rPr>
              <a:t>abac</a:t>
            </a:r>
            <a:r>
              <a:rPr lang="en-US" b="1"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appears in the text. 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684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We want to </a:t>
            </a:r>
            <a:r>
              <a:rPr lang="en-US" b="1" dirty="0">
                <a:latin typeface="Aptos" panose="020B0004020202020204" pitchFamily="34" charset="0"/>
              </a:rPr>
              <a:t>find a small word (pattern)</a:t>
            </a:r>
            <a:r>
              <a:rPr lang="en-US" dirty="0">
                <a:latin typeface="Aptos" panose="020B0004020202020204" pitchFamily="34" charset="0"/>
              </a:rPr>
              <a:t> inside a </a:t>
            </a:r>
            <a:r>
              <a:rPr lang="en-US" b="1" dirty="0">
                <a:latin typeface="Aptos" panose="020B0004020202020204" pitchFamily="34" charset="0"/>
              </a:rPr>
              <a:t>big word (text)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374321-6301-7C7C-3F35-299B140F2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91317"/>
              </p:ext>
            </p:extLst>
          </p:nvPr>
        </p:nvGraphicFramePr>
        <p:xfrm>
          <a:off x="1887220" y="3835400"/>
          <a:ext cx="8128000" cy="26924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740616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11752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</a:rPr>
                        <a:t>Naive Algorithm (slow)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</a:rPr>
                        <a:t>KMP Algorithm (smart)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6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Start matching from the beginning and if a mismatch happens, it starts again from the next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It remembers what it has already matched; never goes backward. It uses LPS array for transitions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475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This wastes time because we recheck characters we already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 panose="020B0004020202020204" pitchFamily="34" charset="0"/>
                        </a:rPr>
                        <a:t>This saves time and avoid rechecking characters (more efficient)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1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" panose="020B0004020202020204" pitchFamily="34" charset="0"/>
                        </a:rPr>
                        <a:t>Time complexity: 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O(n *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Aptos" panose="020B0004020202020204" pitchFamily="34" charset="0"/>
                        </a:rPr>
                        <a:t>Time complexity: 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O(n + 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45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40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583" y="3582892"/>
            <a:ext cx="5013960" cy="297030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000" b="1" u="sng" cap="none" dirty="0">
                <a:latin typeface="Aptos Display" panose="020B0004020202020204" pitchFamily="34" charset="0"/>
              </a:rPr>
              <a:t>LPS (Longest Prefix that is also Suffix)</a:t>
            </a:r>
            <a:br>
              <a:rPr lang="en-US" sz="2000" b="1" cap="none" dirty="0">
                <a:latin typeface="Aptos Display" panose="020B0004020202020204" pitchFamily="34" charset="0"/>
              </a:rPr>
            </a:br>
            <a:r>
              <a:rPr lang="en-US" sz="2000" b="1" cap="none" dirty="0">
                <a:latin typeface="Aptos Display" panose="020B0004020202020204" pitchFamily="34" charset="0"/>
              </a:rPr>
              <a:t>prefix: </a:t>
            </a:r>
            <a:r>
              <a:rPr lang="en-US" sz="2000" cap="none" dirty="0">
                <a:latin typeface="Aptos Display" panose="020B0004020202020204" pitchFamily="34" charset="0"/>
              </a:rPr>
              <a:t>starting part of the string</a:t>
            </a:r>
            <a:br>
              <a:rPr lang="en-US" sz="2000" b="1" cap="none" dirty="0">
                <a:latin typeface="Aptos Display" panose="020B0004020202020204" pitchFamily="34" charset="0"/>
              </a:rPr>
            </a:br>
            <a:r>
              <a:rPr lang="en-US" sz="2000" b="1" cap="none" dirty="0">
                <a:latin typeface="Aptos Display" panose="020B0004020202020204" pitchFamily="34" charset="0"/>
              </a:rPr>
              <a:t>suffix: </a:t>
            </a:r>
            <a:r>
              <a:rPr lang="en-US" sz="2000" cap="none" dirty="0">
                <a:latin typeface="Aptos Display" panose="020B0004020202020204" pitchFamily="34" charset="0"/>
              </a:rPr>
              <a:t>ending part of the string </a:t>
            </a:r>
            <a:br>
              <a:rPr lang="en-US" sz="2000" b="1" cap="none" dirty="0">
                <a:latin typeface="Aptos Display" panose="020B0004020202020204" pitchFamily="34" charset="0"/>
              </a:rPr>
            </a:br>
            <a:r>
              <a:rPr lang="en-US" sz="2000" b="1" cap="none" dirty="0">
                <a:latin typeface="Aptos Display" panose="020B0004020202020204" pitchFamily="34" charset="0"/>
              </a:rPr>
              <a:t>Note: </a:t>
            </a:r>
            <a:r>
              <a:rPr lang="en-US" sz="2000" cap="none" dirty="0">
                <a:latin typeface="Aptos Display" panose="020B0004020202020204" pitchFamily="34" charset="0"/>
              </a:rPr>
              <a:t>It</a:t>
            </a:r>
            <a:r>
              <a:rPr lang="en-US" sz="2000" b="1" cap="none" dirty="0">
                <a:latin typeface="Aptos Display" panose="020B0004020202020204" pitchFamily="34" charset="0"/>
              </a:rPr>
              <a:t> </a:t>
            </a:r>
            <a:r>
              <a:rPr lang="en-US" sz="2000" cap="none" dirty="0">
                <a:latin typeface="Aptos Display" panose="020B0004020202020204" pitchFamily="34" charset="0"/>
              </a:rPr>
              <a:t>cannot be the whole string</a:t>
            </a:r>
            <a:br>
              <a:rPr lang="en-US" sz="2000" cap="none" dirty="0">
                <a:latin typeface="Aptos Display" panose="020B0004020202020204" pitchFamily="34" charset="0"/>
              </a:rPr>
            </a:br>
            <a:r>
              <a:rPr lang="fr-FR" sz="2000" b="1" cap="none" dirty="0">
                <a:latin typeface="Aptos Display" panose="020B0004020202020204" pitchFamily="34" charset="0"/>
              </a:rPr>
              <a:t>lps</a:t>
            </a:r>
            <a:r>
              <a:rPr lang="fr-FR" sz="2000" cap="none" dirty="0">
                <a:latin typeface="Aptos Display" panose="020B0004020202020204" pitchFamily="34" charset="0"/>
              </a:rPr>
              <a:t> = [0, 0, 1, 0]</a:t>
            </a:r>
            <a:br>
              <a:rPr lang="fr-FR" sz="2000" cap="none" dirty="0">
                <a:latin typeface="Aptos Display" panose="020B0004020202020204" pitchFamily="34" charset="0"/>
              </a:rPr>
            </a:br>
            <a:r>
              <a:rPr lang="fr-FR" sz="2000" b="1" cap="none" dirty="0">
                <a:latin typeface="Aptos Display" panose="020B0004020202020204" pitchFamily="34" charset="0"/>
              </a:rPr>
              <a:t>Meaning: at index 2, ‘a’ matches the beginning ‘a’</a:t>
            </a:r>
            <a:br>
              <a:rPr lang="fr-FR" sz="2000" cap="none" dirty="0">
                <a:latin typeface="Aptos Display" panose="020B0004020202020204" pitchFamily="34" charset="0"/>
              </a:rPr>
            </a:br>
            <a:endParaRPr lang="en-US" sz="2000" b="1" cap="none" dirty="0">
              <a:latin typeface="Aptos Display" panose="020B000402020202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39000" y="2057400"/>
            <a:ext cx="4389542" cy="39624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0E681A-48B6-4641-28BB-DFF85836CA59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181357265"/>
              </p:ext>
            </p:extLst>
          </p:nvPr>
        </p:nvGraphicFramePr>
        <p:xfrm>
          <a:off x="7513690" y="3305773"/>
          <a:ext cx="3840162" cy="21958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29254">
                  <a:extLst>
                    <a:ext uri="{9D8B030D-6E8A-4147-A177-3AD203B41FA5}">
                      <a16:colId xmlns:a16="http://schemas.microsoft.com/office/drawing/2014/main" val="1082724407"/>
                    </a:ext>
                  </a:extLst>
                </a:gridCol>
                <a:gridCol w="1229254">
                  <a:extLst>
                    <a:ext uri="{9D8B030D-6E8A-4147-A177-3AD203B41FA5}">
                      <a16:colId xmlns:a16="http://schemas.microsoft.com/office/drawing/2014/main" val="400043012"/>
                    </a:ext>
                  </a:extLst>
                </a:gridCol>
                <a:gridCol w="1381654">
                  <a:extLst>
                    <a:ext uri="{9D8B030D-6E8A-4147-A177-3AD203B41FA5}">
                      <a16:colId xmlns:a16="http://schemas.microsoft.com/office/drawing/2014/main" val="288411571"/>
                    </a:ext>
                  </a:extLst>
                </a:gridCol>
              </a:tblGrid>
              <a:tr h="3889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Light" panose="020F0502020204030204" pitchFamily="34" charset="0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Light" panose="020F0502020204030204" pitchFamily="34" charset="0"/>
                        </a:rP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Light" panose="020F0502020204030204" pitchFamily="34" charset="0"/>
                        </a:rPr>
                        <a:t>Prefix-Suffix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493535"/>
                  </a:ext>
                </a:extLst>
              </a:tr>
              <a:tr h="3889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300389"/>
                  </a:ext>
                </a:extLst>
              </a:tr>
              <a:tr h="3889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851614"/>
                  </a:ext>
                </a:extLst>
              </a:tr>
              <a:tr h="3889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599070"/>
                  </a:ext>
                </a:extLst>
              </a:tr>
              <a:tr h="3889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754836"/>
                  </a:ext>
                </a:extLst>
              </a:tr>
            </a:tbl>
          </a:graphicData>
        </a:graphic>
      </p:graphicFrame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C26633-7744-DE11-4FB7-5A0D868C97BA}"/>
              </a:ext>
            </a:extLst>
          </p:cNvPr>
          <p:cNvSpPr txBox="1"/>
          <p:nvPr/>
        </p:nvSpPr>
        <p:spPr>
          <a:xfrm>
            <a:off x="7389044" y="2499794"/>
            <a:ext cx="4089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Example pattern: </a:t>
            </a:r>
            <a:r>
              <a:rPr lang="en-US" b="1" dirty="0" err="1">
                <a:latin typeface="Aptos Display" panose="020B0004020202020204" pitchFamily="34" charset="0"/>
              </a:rPr>
              <a:t>abac</a:t>
            </a:r>
            <a:endParaRPr lang="en-US" b="1" dirty="0">
              <a:latin typeface="Aptos Display" panose="020B0004020202020204" pitchFamily="34" charset="0"/>
            </a:endParaRPr>
          </a:p>
          <a:p>
            <a:r>
              <a:rPr lang="en-US" dirty="0">
                <a:latin typeface="Aptos Display" panose="020B0004020202020204" pitchFamily="34" charset="0"/>
              </a:rPr>
              <a:t>We calculate LPS for each position: </a:t>
            </a:r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A431-C52D-0237-4BFB-0DD3D4BA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9457C5B-46DB-FB23-6BD2-E77D343E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(1/2)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66DCCA-8890-7434-D8B8-9E0B46EB2A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684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 KMP as a Finite Automaton (FA)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32EEDF-3625-87D9-61E5-724C7699C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9152C0A0-4DCC-7A39-20B6-2FCE6BFD9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522DE6F8-BBA0-2164-C0D8-E74AE0433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A1A901-B6CB-9BB5-9A99-5F8D9B2F7C30}"/>
              </a:ext>
            </a:extLst>
          </p:cNvPr>
          <p:cNvSpPr txBox="1"/>
          <p:nvPr/>
        </p:nvSpPr>
        <p:spPr>
          <a:xfrm>
            <a:off x="676000" y="2404713"/>
            <a:ext cx="982254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Automaton Modeling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States: </a:t>
            </a:r>
            <a:r>
              <a:rPr lang="en-US" dirty="0">
                <a:latin typeface="Aptos" panose="020B0004020202020204" pitchFamily="34" charset="0"/>
              </a:rPr>
              <a:t>Represent number of matched characters of the pattern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States = {0, 1, 2, ..., m}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Valid Characters: </a:t>
            </a:r>
            <a:r>
              <a:rPr lang="en-US" dirty="0">
                <a:latin typeface="Aptos" panose="020B0004020202020204" pitchFamily="34" charset="0"/>
              </a:rPr>
              <a:t>{a, b} or {0, 1}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Start State: </a:t>
            </a:r>
            <a:r>
              <a:rPr lang="en-US" dirty="0">
                <a:latin typeface="Aptos" panose="020B0004020202020204" pitchFamily="34" charset="0"/>
              </a:rPr>
              <a:t>State 0 (no characters matched)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Accepting State: </a:t>
            </a:r>
            <a:r>
              <a:rPr lang="en-US" dirty="0">
                <a:latin typeface="Aptos" panose="020B0004020202020204" pitchFamily="34" charset="0"/>
              </a:rPr>
              <a:t>State m (full pattern matched)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1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FC7E-605C-D635-2926-2F644B1C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3AD36-4341-CA38-4A8F-D5FD4BB9F9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109" y="2514600"/>
            <a:ext cx="10288693" cy="3660648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b="1" dirty="0">
                <a:latin typeface="Aptos" panose="020B0004020202020204" pitchFamily="34" charset="0"/>
              </a:rPr>
              <a:t>How We Build Transitions?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800" dirty="0">
                <a:latin typeface="Aptos" panose="020B0004020202020204" pitchFamily="34" charset="0"/>
              </a:rPr>
              <a:t>We do not use any Python’s built-in String Searching function or any external Automata library.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Transition function δ(state, input) is computed using: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</a:endParaRPr>
          </a:p>
          <a:p>
            <a:pPr marL="685800" lvl="3" indent="0">
              <a:buClr>
                <a:schemeClr val="tx1"/>
              </a:buClr>
              <a:buNone/>
            </a:pPr>
            <a:r>
              <a:rPr lang="en-US" sz="2000" b="1" dirty="0">
                <a:latin typeface="Aptos" panose="020B0004020202020204" pitchFamily="34" charset="0"/>
              </a:rPr>
              <a:t>LPS Array</a:t>
            </a:r>
          </a:p>
          <a:p>
            <a:pPr marL="685800" lvl="3" indent="0">
              <a:buNone/>
            </a:pPr>
            <a:r>
              <a:rPr lang="en-US" sz="1800" dirty="0">
                <a:latin typeface="Aptos" panose="020B0004020202020204" pitchFamily="34" charset="0"/>
              </a:rPr>
              <a:t>On match → move to next state</a:t>
            </a:r>
          </a:p>
          <a:p>
            <a:pPr marL="685800" lvl="3" indent="0">
              <a:buNone/>
            </a:pPr>
            <a:r>
              <a:rPr lang="en-US" sz="1800" dirty="0">
                <a:latin typeface="Aptos" panose="020B0004020202020204" pitchFamily="34" charset="0"/>
              </a:rPr>
              <a:t>On mismatch → fall back using </a:t>
            </a:r>
            <a:r>
              <a:rPr lang="en-US" sz="1800" b="1" dirty="0" err="1">
                <a:latin typeface="Aptos" panose="020B0004020202020204" pitchFamily="34" charset="0"/>
              </a:rPr>
              <a:t>lps</a:t>
            </a:r>
            <a:r>
              <a:rPr lang="en-US" sz="1800" b="1" dirty="0">
                <a:latin typeface="Aptos" panose="020B0004020202020204" pitchFamily="34" charset="0"/>
              </a:rPr>
              <a:t>[state - 1]</a:t>
            </a:r>
          </a:p>
          <a:p>
            <a:pPr marL="685800" lvl="3" indent="0">
              <a:buNone/>
            </a:pPr>
            <a:r>
              <a:rPr lang="en-US" sz="1800" dirty="0">
                <a:latin typeface="Aptos" panose="020B0004020202020204" pitchFamily="34" charset="0"/>
              </a:rPr>
              <a:t>This simulates FA transitions efficiently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2322C-74F7-3261-8531-DCF5CD30B4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684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 KMP as a Finite Automaton (FA)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86AA5-6B21-7239-D9A7-F6131C8D7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Picture Placeholder 5">
            <a:extLst>
              <a:ext uri="{FF2B5EF4-FFF2-40B4-BE49-F238E27FC236}">
                <a16:creationId xmlns:a16="http://schemas.microsoft.com/office/drawing/2014/main" id="{5152192E-CD6A-C613-BB6D-88DBA62FA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272534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80D7-91CF-93C8-1DCA-10C52C98E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31FF-7313-FD74-AB71-08E1A5773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FEB53-FEA8-266F-E69A-2CC327DAAB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109" y="2514600"/>
            <a:ext cx="10288693" cy="3660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1C8DF-7613-3104-2F4C-6EC3AC7F7A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684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 KMP as a Finite Automaton (FA)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3DE9B-61FE-0439-6E20-41BAA4E6B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Picture Placeholder 5">
            <a:extLst>
              <a:ext uri="{FF2B5EF4-FFF2-40B4-BE49-F238E27FC236}">
                <a16:creationId xmlns:a16="http://schemas.microsoft.com/office/drawing/2014/main" id="{5136C029-948D-4AAA-6599-14A5BB1D9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ED06C3-F804-B18B-061E-86EFC9312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64" y="2514600"/>
            <a:ext cx="7746511" cy="392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1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AE3E-D54D-E217-9734-DFA8D73B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6778-B4EA-7D96-E221-D0B7346D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1AC0-12C3-F9E2-0CB5-70D0BF9D73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6109" y="2514600"/>
            <a:ext cx="10288693" cy="3660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FFBAC-41AD-6B81-E652-F085F8C715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684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 KMP as a Finite Automaton (FA)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35FD5-7C60-4CC5-85B9-0018284C8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" name="Picture Placeholder 5">
            <a:extLst>
              <a:ext uri="{FF2B5EF4-FFF2-40B4-BE49-F238E27FC236}">
                <a16:creationId xmlns:a16="http://schemas.microsoft.com/office/drawing/2014/main" id="{FAE3194E-A2FA-FE7B-51F9-15CDB615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5B6A37-5F2E-F267-8CB2-91FEC1848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259" y="2679193"/>
            <a:ext cx="7871921" cy="366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5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Thankyou!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86D9CC-0D9D-4BFE-B3F3-26F480BF8C8A}">
  <ds:schemaRefs>
    <ds:schemaRef ds:uri="http://purl.org/dc/elements/1.1/"/>
    <ds:schemaRef ds:uri="71af3243-3dd4-4a8d-8c0d-dd76da1f02a5"/>
    <ds:schemaRef ds:uri="http://schemas.microsoft.com/office/infopath/2007/PartnerControls"/>
    <ds:schemaRef ds:uri="16c05727-aa75-4e4a-9b5f-8a80a1165891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197</TotalTime>
  <Words>426</Words>
  <Application>Microsoft Office PowerPoint</Application>
  <PresentationFormat>Widescreen</PresentationFormat>
  <Paragraphs>73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Abadi ExtraLight</vt:lpstr>
      <vt:lpstr>Aptos</vt:lpstr>
      <vt:lpstr>Aptos Display</vt:lpstr>
      <vt:lpstr>Arial</vt:lpstr>
      <vt:lpstr>Tw Cen MT</vt:lpstr>
      <vt:lpstr>Tw Cen MT Condensed</vt:lpstr>
      <vt:lpstr>Wingdings 3</vt:lpstr>
      <vt:lpstr>ModernClassicBlock-3</vt:lpstr>
      <vt:lpstr>KMP-Based Mealy Machine Visualizer and String Matching Web Application </vt:lpstr>
      <vt:lpstr>The Problem</vt:lpstr>
      <vt:lpstr>LPS (Longest Prefix that is also Suffix) prefix: starting part of the string suffix: ending part of the string  Note: It cannot be the whole string lps = [0, 0, 1, 0] Meaning: at index 2, ‘a’ matches the beginning ‘a’ </vt:lpstr>
      <vt:lpstr>Working (1/2)</vt:lpstr>
      <vt:lpstr>Working (2/2)</vt:lpstr>
      <vt:lpstr>Implementation (1/2)</vt:lpstr>
      <vt:lpstr>Implementation (2/2)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hamza</dc:creator>
  <cp:lastModifiedBy>Sahir Ul Hassan</cp:lastModifiedBy>
  <cp:revision>23</cp:revision>
  <dcterms:created xsi:type="dcterms:W3CDTF">2025-12-16T08:07:28Z</dcterms:created>
  <dcterms:modified xsi:type="dcterms:W3CDTF">2025-12-16T17:56:39Z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